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7" r:id="rId5"/>
    <p:sldId id="309" r:id="rId6"/>
    <p:sldId id="319" r:id="rId7"/>
    <p:sldId id="321" r:id="rId8"/>
    <p:sldId id="322" r:id="rId9"/>
    <p:sldId id="3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han J Mathew" initials="RJ" lastIdx="1" clrIdx="0">
    <p:extLst>
      <p:ext uri="{19B8F6BF-5375-455C-9EA6-DF929625EA0E}">
        <p15:presenceInfo xmlns:p15="http://schemas.microsoft.com/office/powerpoint/2012/main" userId="11325816ecf9cc8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5" autoAdjust="0"/>
    <p:restoredTop sz="95405" autoAdjust="0"/>
  </p:normalViewPr>
  <p:slideViewPr>
    <p:cSldViewPr snapToGrid="0">
      <p:cViewPr>
        <p:scale>
          <a:sx n="82" d="100"/>
          <a:sy n="82" d="100"/>
        </p:scale>
        <p:origin x="552" y="11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10/13/2025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IN" dirty="0"/>
              <a:t>In-Vehicle Coupon Recommendation System (ML Classification Project)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1C82C5-1618-45B9-4BC9-6E3EA4C3CDE4}"/>
              </a:ext>
            </a:extLst>
          </p:cNvPr>
          <p:cNvSpPr txBox="1"/>
          <p:nvPr/>
        </p:nvSpPr>
        <p:spPr>
          <a:xfrm>
            <a:off x="8551164" y="5705856"/>
            <a:ext cx="2724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By,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Roshan J Mathew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320040"/>
            <a:ext cx="7534656" cy="914400"/>
          </a:xfrm>
        </p:spPr>
        <p:txBody>
          <a:bodyPr/>
          <a:lstStyle/>
          <a:p>
            <a:r>
              <a:rPr lang="en-IN" dirty="0"/>
              <a:t>Project Overview &amp; Objective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0432" y="1656557"/>
            <a:ext cx="7790688" cy="40416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endParaRPr lang="en-US" dirty="0"/>
          </a:p>
          <a:p>
            <a:r>
              <a:rPr lang="en-US" dirty="0"/>
              <a:t>Predict whether a driver will accept or reject a coupon based on contextual and demographic factors.</a:t>
            </a:r>
          </a:p>
          <a:p>
            <a:r>
              <a:rPr lang="en-US" dirty="0"/>
              <a:t>Help advertisers and businesses target users more effectively, improving coupon acceptance rates.</a:t>
            </a:r>
          </a:p>
          <a:p>
            <a:pPr marL="0" indent="0">
              <a:buNone/>
            </a:pPr>
            <a:r>
              <a:rPr lang="en-US" b="1" dirty="0"/>
              <a:t>Dataset &amp; Context:</a:t>
            </a:r>
            <a:endParaRPr lang="en-US" dirty="0"/>
          </a:p>
          <a:p>
            <a:r>
              <a:rPr lang="en-US" dirty="0"/>
              <a:t>~12K survey records from Mechanical Turk describing different driving scenarios.</a:t>
            </a:r>
          </a:p>
          <a:p>
            <a:r>
              <a:rPr lang="en-US" dirty="0"/>
              <a:t>Features: Destination, weather, passengers, coupon type, expiration, income, etc.</a:t>
            </a:r>
          </a:p>
          <a:p>
            <a:r>
              <a:rPr lang="en-US" dirty="0"/>
              <a:t>Target: </a:t>
            </a:r>
            <a:r>
              <a:rPr lang="en-US" i="1" dirty="0"/>
              <a:t>Accept (Yes/No)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Approach:</a:t>
            </a:r>
            <a:endParaRPr lang="en-US" dirty="0"/>
          </a:p>
          <a:p>
            <a:r>
              <a:rPr lang="en-US" dirty="0"/>
              <a:t>Followed complete ML workflow: Business understanding → EDA → Data preparation → Modeling → Evaluation.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B8C2-4B0E-16BA-6E3A-0AE193D4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35902"/>
            <a:ext cx="7534656" cy="914400"/>
          </a:xfrm>
        </p:spPr>
        <p:txBody>
          <a:bodyPr/>
          <a:lstStyle/>
          <a:p>
            <a:r>
              <a:rPr lang="en-IN" dirty="0"/>
              <a:t>Data Understanding &amp; EDA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B3EAC-74DB-96A2-3658-3DCCA88B5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563251"/>
            <a:ext cx="8957389" cy="402578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200" b="1" dirty="0"/>
              <a:t>Exploration Goals:</a:t>
            </a:r>
            <a:r>
              <a:rPr lang="en-US" sz="2200" dirty="0"/>
              <a:t> </a:t>
            </a:r>
            <a:r>
              <a:rPr lang="en-US" dirty="0"/>
              <a:t>Identify </a:t>
            </a:r>
            <a:r>
              <a:rPr lang="en-US" dirty="0" err="1"/>
              <a:t>behavioural</a:t>
            </a:r>
            <a:r>
              <a:rPr lang="en-US" dirty="0"/>
              <a:t> trends and important predictors of coupon acceptance.</a:t>
            </a:r>
          </a:p>
          <a:p>
            <a:pPr marL="0" indent="0">
              <a:buNone/>
            </a:pPr>
            <a:r>
              <a:rPr lang="en-US" sz="2200" b="1" u="sng" dirty="0"/>
              <a:t>Key Insights</a:t>
            </a:r>
            <a:r>
              <a:rPr lang="en-US" sz="2600" b="1" dirty="0"/>
              <a:t>:</a:t>
            </a:r>
            <a:endParaRPr lang="en-US" sz="2600" dirty="0"/>
          </a:p>
          <a:p>
            <a:pPr marL="0" indent="0" algn="ctr">
              <a:buNone/>
            </a:pPr>
            <a:r>
              <a:rPr lang="en-US" b="1" dirty="0"/>
              <a:t>       Coupon Type:</a:t>
            </a:r>
            <a:r>
              <a:rPr lang="en-US" dirty="0"/>
              <a:t> Cheap restaurant and takeaway coupons had the highest acceptance; bars and expensive restaurants lowest.</a:t>
            </a:r>
          </a:p>
          <a:p>
            <a:pPr marL="0" indent="0">
              <a:buNone/>
            </a:pPr>
            <a:r>
              <a:rPr lang="en-US" b="1" dirty="0"/>
              <a:t>        Expiration:</a:t>
            </a:r>
            <a:r>
              <a:rPr lang="en-US" dirty="0"/>
              <a:t> 1-day validity coupons preferred over 2-hour ones.</a:t>
            </a:r>
          </a:p>
          <a:p>
            <a:pPr marL="0" indent="0" algn="r">
              <a:buNone/>
            </a:pPr>
            <a:r>
              <a:rPr lang="en-US" b="1" dirty="0"/>
              <a:t>   Context:</a:t>
            </a:r>
            <a:r>
              <a:rPr lang="en-US" dirty="0"/>
              <a:t> Acceptance higher when travelling with friends and with no urgent destination.</a:t>
            </a:r>
          </a:p>
          <a:p>
            <a:pPr marL="0" indent="0" algn="ctr">
              <a:buNone/>
            </a:pPr>
            <a:r>
              <a:rPr lang="en-US" b="1" dirty="0"/>
              <a:t>     Time &amp; Weather:</a:t>
            </a:r>
            <a:r>
              <a:rPr lang="en-US" dirty="0"/>
              <a:t> Morning and afternoon hours showed higher acceptance rates, especially on sunny days.</a:t>
            </a:r>
          </a:p>
          <a:p>
            <a:pPr marL="0" indent="0">
              <a:buNone/>
            </a:pPr>
            <a:r>
              <a:rPr lang="en-US" sz="2200" b="1" dirty="0"/>
              <a:t>Impact of EDA:</a:t>
            </a:r>
            <a:endParaRPr lang="en-US" sz="2200" dirty="0"/>
          </a:p>
          <a:p>
            <a:r>
              <a:rPr lang="en-US" dirty="0"/>
              <a:t> Helped identify the most relevant contextual features for the predictive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7AE7C-5A93-7D95-7E52-B8F65C991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5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F7BC-3296-5FF9-46B9-5892862EA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167951"/>
            <a:ext cx="7534656" cy="914400"/>
          </a:xfrm>
        </p:spPr>
        <p:txBody>
          <a:bodyPr/>
          <a:lstStyle/>
          <a:p>
            <a:r>
              <a:rPr lang="en-IN" dirty="0"/>
              <a:t>Data Preparation &amp; </a:t>
            </a:r>
            <a:r>
              <a:rPr lang="en-IN" dirty="0" err="1"/>
              <a:t>Modeling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E571C-E448-6E31-31BA-13EBE2BD8F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80135" y="1329985"/>
            <a:ext cx="8215791" cy="41937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Data Cleaning:</a:t>
            </a:r>
            <a:endParaRPr lang="en-IN" dirty="0"/>
          </a:p>
          <a:p>
            <a:r>
              <a:rPr lang="en-IN" dirty="0"/>
              <a:t>Dropped high-missing column (</a:t>
            </a:r>
            <a:r>
              <a:rPr lang="en-IN" i="1" dirty="0"/>
              <a:t>car</a:t>
            </a:r>
            <a:r>
              <a:rPr lang="en-IN" dirty="0"/>
              <a:t> ~99% missing).</a:t>
            </a:r>
          </a:p>
          <a:p>
            <a:r>
              <a:rPr lang="en-IN" dirty="0"/>
              <a:t>Imputed minor missing values with mode.</a:t>
            </a:r>
          </a:p>
          <a:p>
            <a:r>
              <a:rPr lang="en-IN" dirty="0"/>
              <a:t>Removed duplicates and handled categorical data using one-hot encoding.</a:t>
            </a:r>
          </a:p>
          <a:p>
            <a:r>
              <a:rPr lang="en-IN" dirty="0"/>
              <a:t>Stratified train-test split to maintain class balance (~57/43).</a:t>
            </a:r>
          </a:p>
          <a:p>
            <a:pPr marL="0" indent="0">
              <a:buNone/>
            </a:pPr>
            <a:r>
              <a:rPr lang="en-IN" b="1" dirty="0"/>
              <a:t> Models Tested:</a:t>
            </a:r>
            <a:endParaRPr lang="en-IN" dirty="0"/>
          </a:p>
          <a:p>
            <a:r>
              <a:rPr lang="en-IN" dirty="0"/>
              <a:t>Logistic Regression → Baseline, limited non-linear capture.</a:t>
            </a:r>
          </a:p>
          <a:p>
            <a:r>
              <a:rPr lang="en-IN" dirty="0"/>
              <a:t>Decision Tree → Good training accuracy, but overfitted.</a:t>
            </a:r>
          </a:p>
          <a:p>
            <a:r>
              <a:rPr lang="en-IN" b="1" dirty="0"/>
              <a:t>Random Forest → Best performer.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Hyperparameter Tuning:</a:t>
            </a:r>
            <a:endParaRPr lang="en-IN" dirty="0"/>
          </a:p>
          <a:p>
            <a:r>
              <a:rPr lang="en-IN" dirty="0"/>
              <a:t>Used </a:t>
            </a:r>
            <a:r>
              <a:rPr lang="en-IN" b="1" dirty="0" err="1"/>
              <a:t>RandomizedSearchCV</a:t>
            </a:r>
            <a:r>
              <a:rPr lang="en-IN" dirty="0"/>
              <a:t> with 5-fold CV to optimize parameters (</a:t>
            </a:r>
            <a:r>
              <a:rPr lang="en-IN" dirty="0" err="1"/>
              <a:t>n_estimators</a:t>
            </a:r>
            <a:r>
              <a:rPr lang="en-IN" dirty="0"/>
              <a:t>, </a:t>
            </a:r>
            <a:r>
              <a:rPr lang="en-IN" dirty="0" err="1"/>
              <a:t>max_depth</a:t>
            </a:r>
            <a:r>
              <a:rPr lang="en-IN" dirty="0"/>
              <a:t>, </a:t>
            </a:r>
            <a:r>
              <a:rPr lang="en-IN" dirty="0" err="1"/>
              <a:t>min_samples_split</a:t>
            </a:r>
            <a:r>
              <a:rPr lang="en-IN" dirty="0"/>
              <a:t>, etc.).</a:t>
            </a:r>
          </a:p>
          <a:p>
            <a:r>
              <a:rPr lang="en-IN" dirty="0"/>
              <a:t>Objective: Improve accuracy and recall while reducing overfitting.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0DDC6-EE91-61F8-8814-5D5379F26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13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C8E8-5CDD-F138-8F88-8DB18A98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7951"/>
            <a:ext cx="7534656" cy="914400"/>
          </a:xfrm>
        </p:spPr>
        <p:txBody>
          <a:bodyPr/>
          <a:lstStyle/>
          <a:p>
            <a:r>
              <a:rPr lang="en-IN" dirty="0"/>
              <a:t>Results, Learnings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263CC-2739-7CFC-EED6-7C2584EE85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246009"/>
            <a:ext cx="8546842" cy="424039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Model Performance:</a:t>
            </a:r>
            <a:endParaRPr lang="en-US" dirty="0"/>
          </a:p>
          <a:p>
            <a:r>
              <a:rPr lang="en-US" dirty="0"/>
              <a:t>Final Random Forest achieved </a:t>
            </a:r>
            <a:r>
              <a:rPr lang="en-US" b="1" dirty="0"/>
              <a:t>~75% accuracy</a:t>
            </a:r>
            <a:r>
              <a:rPr lang="en-US" dirty="0"/>
              <a:t> and </a:t>
            </a:r>
            <a:r>
              <a:rPr lang="en-US" b="1" dirty="0"/>
              <a:t>~83% recall</a:t>
            </a:r>
            <a:r>
              <a:rPr lang="en-US" dirty="0"/>
              <a:t> on test data.</a:t>
            </a:r>
          </a:p>
          <a:p>
            <a:r>
              <a:rPr lang="en-US" dirty="0"/>
              <a:t>Outperformed all baselines.</a:t>
            </a:r>
          </a:p>
          <a:p>
            <a:r>
              <a:rPr lang="en-US" dirty="0"/>
              <a:t>Key predictive features: Coupon type, expiration, passenger, destination.</a:t>
            </a:r>
          </a:p>
          <a:p>
            <a:pPr marL="0" indent="0">
              <a:buNone/>
            </a:pPr>
            <a:r>
              <a:rPr lang="en-US" b="1" dirty="0"/>
              <a:t>Key Learnings:</a:t>
            </a:r>
            <a:endParaRPr lang="en-US" dirty="0"/>
          </a:p>
          <a:p>
            <a:r>
              <a:rPr lang="en-US" dirty="0"/>
              <a:t>Data preprocessing and leakage prevention are critical.</a:t>
            </a:r>
          </a:p>
          <a:p>
            <a:r>
              <a:rPr lang="en-US" dirty="0"/>
              <a:t>Feature importance aligns strongly with behavioral patterns observed in EDA.</a:t>
            </a:r>
          </a:p>
          <a:p>
            <a:r>
              <a:rPr lang="en-US" dirty="0"/>
              <a:t>Balanced trade-off between accuracy and interpretability achieved via ensemble modeling.</a:t>
            </a:r>
          </a:p>
          <a:p>
            <a:pPr marL="0" indent="0">
              <a:buNone/>
            </a:pPr>
            <a:r>
              <a:rPr lang="en-US" b="1" dirty="0"/>
              <a:t>Challenges &amp; Solutions:</a:t>
            </a:r>
            <a:endParaRPr lang="en-US" dirty="0"/>
          </a:p>
          <a:p>
            <a:r>
              <a:rPr lang="en-US" dirty="0"/>
              <a:t>Handled missing data and high cardinality categorical features efficiently.</a:t>
            </a:r>
          </a:p>
          <a:p>
            <a:r>
              <a:rPr lang="en-US" dirty="0"/>
              <a:t>Controlled overfitting through tuning and cross-validation.</a:t>
            </a:r>
          </a:p>
          <a:p>
            <a:pPr marL="0" indent="0">
              <a:buNone/>
            </a:pPr>
            <a:r>
              <a:rPr lang="en-US" b="1" dirty="0"/>
              <a:t>Future Improvements:</a:t>
            </a:r>
            <a:endParaRPr lang="en-US" dirty="0"/>
          </a:p>
          <a:p>
            <a:r>
              <a:rPr lang="en-US" dirty="0"/>
              <a:t>Experiment with Gradient Boosting / </a:t>
            </a:r>
            <a:r>
              <a:rPr lang="en-US" dirty="0" err="1"/>
              <a:t>XGBoost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1BE0C-C238-E6BC-BB4A-0E1B8A10C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51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24088" y="6036906"/>
            <a:ext cx="3867912" cy="821094"/>
          </a:xfrm>
        </p:spPr>
        <p:txBody>
          <a:bodyPr anchor="ctr"/>
          <a:lstStyle/>
          <a:p>
            <a:r>
              <a:rPr lang="en-US" dirty="0"/>
              <a:t>ROSHAN J Mathew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{FF26BEEE-2470-41CC-ADBE-9B6F93BF5752}tf11964407_win32</Template>
  <TotalTime>68</TotalTime>
  <Words>445</Words>
  <Application>Microsoft Office PowerPoint</Application>
  <PresentationFormat>Widescreen</PresentationFormat>
  <Paragraphs>58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Gill Sans Nova Light</vt:lpstr>
      <vt:lpstr>Sagona Book</vt:lpstr>
      <vt:lpstr>Custom</vt:lpstr>
      <vt:lpstr>In-Vehicle Coupon Recommendation System (ML Classification Project)</vt:lpstr>
      <vt:lpstr>Project Overview &amp; Objective</vt:lpstr>
      <vt:lpstr>Data Understanding &amp; EDA Insights</vt:lpstr>
      <vt:lpstr>Data Preparation &amp; Modeling</vt:lpstr>
      <vt:lpstr>Results, Learnings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 J Mathew</dc:creator>
  <cp:lastModifiedBy>Roshan J Mathew</cp:lastModifiedBy>
  <cp:revision>2</cp:revision>
  <dcterms:created xsi:type="dcterms:W3CDTF">2025-10-13T05:53:15Z</dcterms:created>
  <dcterms:modified xsi:type="dcterms:W3CDTF">2025-10-13T07:01:52Z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